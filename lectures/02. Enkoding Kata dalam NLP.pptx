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7" r:id="rId10"/>
    <p:sldId id="257" r:id="rId11"/>
    <p:sldId id="269" r:id="rId12"/>
    <p:sldId id="270" r:id="rId13"/>
    <p:sldId id="260" r:id="rId14"/>
    <p:sldId id="272" r:id="rId15"/>
    <p:sldId id="273" r:id="rId16"/>
    <p:sldId id="274" r:id="rId17"/>
    <p:sldId id="275" r:id="rId18"/>
    <p:sldId id="276" r:id="rId19"/>
    <p:sldId id="278" r:id="rId20"/>
    <p:sldId id="279" r:id="rId21"/>
    <p:sldId id="280" r:id="rId22"/>
    <p:sldId id="288" r:id="rId23"/>
    <p:sldId id="289" r:id="rId24"/>
    <p:sldId id="290" r:id="rId25"/>
    <p:sldId id="291" r:id="rId26"/>
    <p:sldId id="292" r:id="rId27"/>
    <p:sldId id="293" r:id="rId28"/>
    <p:sldId id="282" r:id="rId29"/>
    <p:sldId id="283" r:id="rId30"/>
    <p:sldId id="284" r:id="rId31"/>
    <p:sldId id="285" r:id="rId32"/>
    <p:sldId id="286" r:id="rId33"/>
    <p:sldId id="296" r:id="rId34"/>
    <p:sldId id="294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15096" y="2666107"/>
            <a:ext cx="6961807" cy="3530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lang="en-US" sz="4050" b="1" i="0" u="none">
                <a:solidFill>
                  <a:srgbClr val="F8FAFC"/>
                </a:solidFill>
                <a:latin typeface="Poppins"/>
              </a:rPr>
              <a:t>REPRESENTASI KATA </a:t>
            </a:r>
            <a:r>
              <a:rPr sz="4050" b="1" i="0" u="none">
                <a:solidFill>
                  <a:srgbClr val="F8FAFC"/>
                </a:solidFill>
                <a:latin typeface="Poppins"/>
              </a:rPr>
              <a:t>dalam NLP</a:t>
            </a:r>
            <a:endParaRPr lang="en-US" sz="4050" b="1" i="0" u="none">
              <a:solidFill>
                <a:srgbClr val="F8FAFC"/>
              </a:solidFill>
              <a:latin typeface="Poppins"/>
            </a:endParaRPr>
          </a:p>
          <a:p>
            <a:pPr algn="ctr">
              <a:lnSpc>
                <a:spcPts val="4657"/>
              </a:lnSpc>
            </a:pPr>
            <a:endParaRPr lang="en-US" sz="4050" b="1">
              <a:solidFill>
                <a:srgbClr val="F8FAFC"/>
              </a:solidFill>
              <a:latin typeface="Poppins"/>
            </a:endParaRPr>
          </a:p>
          <a:p>
            <a:pPr algn="ctr">
              <a:lnSpc>
                <a:spcPts val="4657"/>
              </a:lnSpc>
            </a:pPr>
            <a:r>
              <a:rPr lang="en-US" sz="2000" b="1">
                <a:solidFill>
                  <a:srgbClr val="F8FAFC"/>
                </a:solidFill>
                <a:latin typeface="Poppins"/>
              </a:rPr>
              <a:t>MULAAB</a:t>
            </a:r>
          </a:p>
          <a:p>
            <a:pPr algn="ctr">
              <a:lnSpc>
                <a:spcPts val="4657"/>
              </a:lnSpc>
            </a:pPr>
            <a:r>
              <a:t>
</a:t>
            </a:r>
            <a:endParaRPr sz="4050" b="1" i="0" u="none">
              <a:solidFill>
                <a:srgbClr val="F8FAFC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981200"/>
            <a:ext cx="5348287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81200"/>
            <a:ext cx="5348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Dalam bidang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Natural Language Processing (NLP)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, algoritma AI/ML tidak dapat bekerja secara langsung pada data teks mentah.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552700"/>
            <a:ext cx="5348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Kunci pemrosesan teks adalah mengubah kata menjadi representasi angka yang dapat dipahami oleh mesin: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1990725"/>
            <a:ext cx="5329237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1075" y="3152775"/>
            <a:ext cx="49482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Konversi Teks: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Mengubah kata-kata menjadi numerik agar dapat dikonsumsi model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3781425"/>
            <a:ext cx="49482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Representasi Vektor: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Setiap kata diwakili dalam struktur matematis teratur.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4410075"/>
            <a:ext cx="49482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Metode Populer: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Label/Integer Encoding dan One-Hot Vector Encoding.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17658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0523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433887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Prinsip Dasar Word Encoding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5562"/>
            <a:ext cx="5348287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595562"/>
            <a:ext cx="5348287" cy="2390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890837"/>
            <a:ext cx="49956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Konsep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19462"/>
            <a:ext cx="47577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Metode ini mengonversi satu kata tunggal menjadi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vektor berdimensi N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, di mana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N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adalah ukuran total kosakata (vocabulary size) dalam korpus.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119562"/>
            <a:ext cx="47577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Dibutuhkan daya komputasi yang relatif kecil untuk mengonversi data teks dan sangat mudah diimplementasikan.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2890837"/>
            <a:ext cx="49956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Struktur Vektor One-Hot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3319462"/>
            <a:ext cx="47577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Vektor diisi dengan nilai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nol (0)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di seluruh posisinya, kecuali satu posisi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tunggal (hot)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bernilai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satu (1)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yang mewakili kata tersebut.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3890962"/>
            <a:ext cx="47577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Setiap indeks posisi mewakili satu kata unik yang telah dipetakan dalam kamus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Apa Itu One-Hot Vector Encoding?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3551932"/>
            <a:ext cx="10629900" cy="3961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4405312"/>
            <a:ext cx="10629900" cy="396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1075" y="2608957"/>
            <a:ext cx="106299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Dokumen Input Korpus: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" y="3266182"/>
            <a:ext cx="10629900" cy="681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Ukuran Kosakata (N = 6):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4119562"/>
            <a:ext cx="10629900" cy="681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Representasi Word Index: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2866132"/>
            <a:ext cx="10629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Doc 1: </a:t>
            </a:r>
            <a:r>
              <a:rPr sz="1200" b="0" i="1" u="none">
                <a:solidFill>
                  <a:srgbClr val="CBD5E1"/>
                </a:solidFill>
                <a:latin typeface="Inter"/>
              </a:rPr>
              <a:t>"I love playing football."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| Doc 2: </a:t>
            </a:r>
            <a:r>
              <a:rPr sz="1200" b="0" i="1" u="none">
                <a:solidFill>
                  <a:srgbClr val="CBD5E1"/>
                </a:solidFill>
                <a:latin typeface="Inter"/>
              </a:rPr>
              <a:t>"Indians love playing Cricket."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632769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289994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143375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Contoh 1: Korpus 6 Kata Unik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124075"/>
          <a:ext cx="11020423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5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Kata Unik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Indeks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Vektor One-Hot (Dimensi N = 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Muncul 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[1, 0, 0, 0, 0, 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Doc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love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[0, 1, 0, 0, 0, 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Doc 1 &amp; Doc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playing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[0, 0, 1, 0, 0, 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Doc 1 &amp; Doc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football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[0, 0, 0, 1, 0, 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Doc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indians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[0, 0, 0, 0, 1, 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Doc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cricket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[0, 0, 0, 0, 0, 1]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Doc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5787" y="2586037"/>
            <a:ext cx="1950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36031" y="2586037"/>
            <a:ext cx="15158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51845" y="2586037"/>
            <a:ext cx="50757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27628" y="2586037"/>
            <a:ext cx="24785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787" y="3062287"/>
            <a:ext cx="1950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36031" y="3062287"/>
            <a:ext cx="15158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51845" y="3062287"/>
            <a:ext cx="50757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27628" y="3062287"/>
            <a:ext cx="24785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787" y="3538537"/>
            <a:ext cx="1950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36031" y="3538537"/>
            <a:ext cx="15158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51845" y="3538537"/>
            <a:ext cx="50757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27628" y="3538537"/>
            <a:ext cx="24785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5787" y="4014787"/>
            <a:ext cx="1950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36031" y="4014787"/>
            <a:ext cx="15158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51845" y="4014787"/>
            <a:ext cx="50757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27628" y="4014787"/>
            <a:ext cx="24785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787" y="4491037"/>
            <a:ext cx="1950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36031" y="4491037"/>
            <a:ext cx="15158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51845" y="4491037"/>
            <a:ext cx="50757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27628" y="4491037"/>
            <a:ext cx="24785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5787" y="4967287"/>
            <a:ext cx="1950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36031" y="4967287"/>
            <a:ext cx="15158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51845" y="4967287"/>
            <a:ext cx="50757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27628" y="4967287"/>
            <a:ext cx="24785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5787" y="5443537"/>
            <a:ext cx="1950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36031" y="5443537"/>
            <a:ext cx="15158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51845" y="5443537"/>
            <a:ext cx="50757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27628" y="5443537"/>
            <a:ext cx="24785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Contoh 1: Vektor One-Hot (Dimensi 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37532"/>
            <a:ext cx="5348287" cy="23068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37532"/>
            <a:ext cx="5348287" cy="23068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962" y="3704332"/>
            <a:ext cx="4757737" cy="849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932807"/>
            <a:ext cx="49956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Dokumen Korpus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361432"/>
            <a:ext cx="475773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Doc 1: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CBD5E1"/>
                </a:solidFill>
                <a:latin typeface="Inter"/>
              </a:rPr>
              <a:t>"My name is John, What is your name?"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637657"/>
            <a:ext cx="475773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Doc 2: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CBD5E1"/>
                </a:solidFill>
                <a:latin typeface="Inter"/>
              </a:rPr>
              <a:t>"Bill is a very good person. He likes playing soccer."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913882"/>
            <a:ext cx="47577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Doc 3: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  <a:r>
              <a:rPr sz="1050" b="0" i="1" u="none">
                <a:solidFill>
                  <a:srgbClr val="CBD5E1"/>
                </a:solidFill>
                <a:latin typeface="Inter"/>
              </a:rPr>
              <a:t>"What is your favorite game? I love Football. Football is a great game."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2932807"/>
            <a:ext cx="49956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Pemetaan Kosakata (N = 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962" y="3361432"/>
            <a:ext cx="47577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Korpus ini mengekstrak total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21 kata unik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(indeks 0 hingga 20):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Contoh 2: Korpus 21 Kata Unik (3 Dokumen)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2910036"/>
            <a:ext cx="10629900" cy="7292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4096494"/>
            <a:ext cx="10629900" cy="689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1075" y="2624286"/>
            <a:ext cx="10629900" cy="1015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Representasi Urutan Indeks Kata (Word Index):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" y="3810744"/>
            <a:ext cx="10629900" cy="975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Struktur Vektor One-Hot (Dimensi N = 21):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648098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34556"/>
            <a:ext cx="17145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Contoh 2: Representasi Word Index &amp; Vektor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66962"/>
            <a:ext cx="3517850" cy="2847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366962"/>
            <a:ext cx="3517850" cy="2847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366962"/>
            <a:ext cx="3517850" cy="2847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8675" y="3195637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1. Konsumsi Memori Tinggi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3624262"/>
            <a:ext cx="3022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Seiring membesarnya ukuran kosakata (ribuan/jutaan kata), kebutuhan memori melonjak drastis karena sebagian besar nilai bernilai nol (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sparse matrix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4650" y="3195637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2. Curse of Dimensionality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624262"/>
            <a:ext cx="3022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Ruang fitur bertambah eksplosif seiring penambahan kata baru, membebankan komputasi algoritma pemelajaran mesin (ML).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625" y="3195637"/>
            <a:ext cx="317367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3. Tanpa Informasi Semantik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938587"/>
            <a:ext cx="3022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Setiap kata dianggap ortogonal (berjarak sama). Kata berdekatan seperti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"football"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dan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"soccer"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tidak memiliki indikator kemiripan makna.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652712"/>
            <a:ext cx="409575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652712"/>
            <a:ext cx="314325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2652712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Keterbatasan One-Hot Encoding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24125"/>
            <a:ext cx="3517850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524125"/>
            <a:ext cx="3517850" cy="2533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524125"/>
            <a:ext cx="3517850" cy="2533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8675" y="3352800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Kegunaan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3781425"/>
            <a:ext cx="3022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One-Hot Encoding tetap efektif untuk dataset kecil, variabel kategorikal, dan model baseline NLP yang sederhana.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4650" y="3352800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Word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781425"/>
            <a:ext cx="3022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Teknik modern seperti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Word2Vec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&amp;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GloVe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memetakan kata ke dimensi padat (dense) untuk menangkap konteks dan kemiripan semantik.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625" y="3352800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Model 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781425"/>
            <a:ext cx="3022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Arsitektur canggih (BERT/GPT) menggunakan representasi kontekstual dinamis untuk mengatasi kelemahan enkoding tradisional.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809875"/>
            <a:ext cx="36195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809875"/>
            <a:ext cx="409575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2809875"/>
            <a:ext cx="457200" cy="3619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7724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 Bag-of-Words (BOW)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Apa itu Bag-of-Words (BOW)?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Metode representasi teks paling sederhana dalam NLP yang menghitung frekuensi kemunculan setiap kata di dalam dokumen.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Prinsip Kerja Utamanya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Menerapkan Label / Integer Word Encoding.</a:t>
            </a:r>
            <a:br/>
            <a:r>
              <a:t>• Mengabaikan tata bahasa (grammar) dan urutan kata.</a:t>
            </a:r>
            <a:br/>
            <a:r>
              <a:t>• Jumlah frekuensi kata dianggap sebagai bobot ('weightage') kata tersebut.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42255" cy="44805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500"/>
              </a:spcAft>
              <a:defRPr sz="1600" b="1">
                <a:solidFill>
                  <a:srgbClr val="0F172A"/>
                </a:solidFill>
              </a:defRPr>
            </a:pPr>
            <a:r>
              <a:t>Penggunaan Utama di Industri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Mesin Pencari (Search):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  Mencocokkan kata kunci pencarian dengan dokumen berdasarkan frekuensi kata.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Sistem Rekomendasi: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  Merekomendasikan artikel atau produk yang mirip berdasarkan kesamaan konten teks.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Klasifikasi Teks: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</a:defRPr>
            </a:pPr>
            <a:r>
              <a:t>  Sebagai input ekstraksi fitur awal untuk model Machine Learning (Spam detection, Analisis Sentimen).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Contoh 1: Vektor BOW Sederhana (2 Dokumen)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Korpus Dokumen (N = 2):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Doc 1: "I love playing football."</a:t>
            </a:r>
            <a:br/>
            <a:r>
              <a:t>• Doc 2: "Indians love playing Cricket."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12064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Kamus Kosakata (6 Kata Unik):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0 : 'i'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1 : 'love'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2 : 'playing'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3 : 'football'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4 : 'indians'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5 : 'cricket'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42255" cy="338328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Hasil Vektor BOW (Panjang Vektor = 6):</a:t>
            </a:r>
          </a:p>
          <a:p>
            <a:pPr>
              <a:spcAft>
                <a:spcPts val="1000"/>
              </a:spcAft>
              <a:defRPr sz="1300">
                <a:solidFill>
                  <a:srgbClr val="3B82F6"/>
                </a:solidFill>
              </a:defRPr>
            </a:pPr>
            <a:r>
              <a:t>• BOW Doc 1:</a:t>
            </a:r>
            <a:br/>
            <a:r>
              <a:t>  [1, 1, 1, 1, 0, 0]</a:t>
            </a:r>
            <a:br/>
            <a:r>
              <a:t>  (Ada 1 kata 'i', 'love', 'playing', 'football')</a:t>
            </a:r>
          </a:p>
          <a:p>
            <a:pPr>
              <a:defRPr sz="1300">
                <a:solidFill>
                  <a:srgbClr val="3B82F6"/>
                </a:solidFill>
              </a:defRPr>
            </a:pPr>
            <a:r>
              <a:t>• BOW Doc 2:</a:t>
            </a:r>
            <a:br/>
            <a:r>
              <a:t>  [0, 1, 1, 0, 1, 1]</a:t>
            </a:r>
            <a:br/>
            <a:r>
              <a:t>  (Ada 1 kata 'love', 'playing', 'indians', 'cricket')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Contoh 2: Vektor BOW pada Korpus Lebih Besar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Korpus Dokumen (N = 3):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Doc 1: "My name is John, What is your name?"</a:t>
            </a:r>
            <a:br/>
            <a:r>
              <a:t>• Doc 2: "Bill is a very good person. He likes playing soccer."</a:t>
            </a:r>
            <a:br/>
            <a:r>
              <a:t>• Doc 3: "What is your favorite game? I love Football. Football is a great game."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0F172A"/>
                </a:solidFill>
              </a:defRPr>
            </a:pPr>
            <a:r>
              <a:t>Ukuran Kamus Kosakata (21 Kata Unik / Indeks 0 s.d. 20):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{0: 'my', 1: 'name', 2: 'is', 3: 'john', 4: 'what', 5: 'your', 6: 'bill', 7: 'a', 8: 'very', 9: 'good', 10: 'person', 11: 'he', 12: 'likes', 13: 'playing', 14: 'soccer', 15: 'favorite', 16: 'game', 17: 'i', 18: 'love', 19: 'football', 20: 'great'}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10728655" cy="2103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Vektor Frekuensi BOW (Ukuran Vektor = 21):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BOW Doc 1: [1, 2, 2, 1, 1, 1, 0, 0, 0, 0, 0, 0, 0, 0, 0, 0, 0, 0, 0, 0, 0]  --&gt; ('name':2, 'is':2, dst.)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BOW Doc 2: [0, 0, 1, 0, 0, 0, 1, 1, 1, 1, 1, 1, 1, 1, 1, 0, 0, 0, 0, 0, 0]  --&gt; ('is':1, 'bill':1, dst.)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BOW Doc 3: [0, 0, 2, 0, 1, 1, 0, 1, 0, 0, 0, 0, 0, 0, 0, 1, 2, 1, 1, 2, 1]  --&gt; ('is':2, 'game':2, 'football':2, dst.)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Keterbatasan Utama Bag-of-Words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Kehilangan Urutan Kata: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Urutan kata dan konteks kalimat diabaikan sepenuhnya ('not good' dianggap sama dengan 'good').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Dominasi Kata Umum: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Kata-kata umum yang muncul sangat sering (seperti 'is', 'a', 'the') mendapat bobot paling tinggi padahal kurang informatif.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Sparsity (Matriks Jarang):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Jika jumlah dokumen &amp; kosakata besar, mayoritas elemen matriks bernilai 0 sehingga boros memori.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• Masalah OOV (Out of Vocabulary):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Tidak dapat mengenali kata baru yang tidak ada pada saat pembuatan kamus kosakata.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42255" cy="4572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Solusi &amp; Evolusi Model NLP</a:t>
            </a:r>
          </a:p>
          <a:p>
            <a:pPr>
              <a:defRPr sz="1200" b="1">
                <a:solidFill>
                  <a:srgbClr val="3B82F6"/>
                </a:solidFill>
              </a:defRPr>
            </a:pPr>
            <a:r>
              <a:t>• TF-IDF (Term Frequency - Inverse Document Frequency):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Memperbaiki BOW dengan memberikan penalti/diskon pada kata-kata umum yang sering muncul di banyak dokumen.</a:t>
            </a:r>
          </a:p>
          <a:p>
            <a:pPr>
              <a:defRPr sz="1200" b="1">
                <a:solidFill>
                  <a:srgbClr val="3B82F6"/>
                </a:solidFill>
              </a:defRPr>
            </a:pPr>
            <a:r>
              <a:t>• N-Gram (Bi-gram, Tri-gram):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Menggabungkan N kata berurutan untuk mempertahankan sebagian konteks lokal.</a:t>
            </a:r>
          </a:p>
          <a:p>
            <a:pPr>
              <a:defRPr sz="1200" b="1">
                <a:solidFill>
                  <a:srgbClr val="3B82F6"/>
                </a:solidFill>
              </a:defRPr>
            </a:pPr>
            <a:r>
              <a:t>• Word Embeddings (Word2Vec, GloVe):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Representasi vektor padat (dense) yang mampu menangkap kemiripan makna/semantik antar kata.</a:t>
            </a:r>
          </a:p>
          <a:p>
            <a:pPr>
              <a:defRPr sz="1200" b="1">
                <a:solidFill>
                  <a:srgbClr val="3B82F6"/>
                </a:solidFill>
              </a:defRPr>
            </a:pPr>
            <a:r>
              <a:t>• Transformers (BERT, GPT):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Model modern berbasis perhatian (Attention) yang memahami konteks secara penuh dalam kalimat.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7724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Apa itu TF-IDF?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TF-IDF (Term Frequency - Inverse Document Frequency) adalah metode pembobotan teks populer dalam NLP untuk Mesin Pencari (Search Engine), Sistem Rekomendasi, dan Klasifikasi Teks.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Mengapa Dibuat (Mengatasi Kelemahan BOW)?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Metode Bag of Words (BOW) memiliki kelemahan: pembobotan didominasi oleh kata-kata umum (seperti 'is', 'the', 'a', 'dan') yang sering muncul tetapi tidak membawa informasi spesifik.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Prinsip Kerja Utama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</a:defRPr>
            </a:pPr>
            <a:r>
              <a:t>• Pentingnya Kata: Memberikan bobot tinggi jika kata muncul berkali-kali dalam dokumen tertentu.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Penalti Kata Umum: Mengurangi bobot secara drastis jika kata muncul terlalu sering di banyak dokumen.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Penggunaan Utama di Industri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1. Mesin Pencari: Pemeringkatan dokumen berdasarkan relevansi kata kunci.</a:t>
            </a:r>
            <a:br/>
            <a:r>
              <a:t>2. Sistem Rekomendasi: Pencocokan artikel berdasarkan kemiripan isi.</a:t>
            </a:r>
            <a:br/>
            <a:r>
              <a:t>3. Klasifikasi Teks: Ekstraksi fitur untuk model Machine Learning.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Formulasi Matematika 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tf_idf(t, d, D) = tf(t, d) × idf(t, 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5120640" cy="3383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1. Term Frequency (tf)</a:t>
            </a:r>
          </a:p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tf(t, d) = jumlah t dalam d</a:t>
            </a:r>
          </a:p>
          <a:p>
            <a:pPr>
              <a:spcAft>
                <a:spcPts val="2000"/>
              </a:spcAft>
              <a:defRPr sz="1300">
                <a:solidFill>
                  <a:srgbClr val="1E293B"/>
                </a:solidFill>
              </a:defRPr>
            </a:pPr>
            <a:r>
              <a:t>Meningkat secara proporsional seiring makin seringnya kata muncul di dalam dokumen tersebut.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2. Inverse Document Frequency (idf)</a:t>
            </a:r>
          </a:p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idf(t) = log( N / df(t) 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Nilainya menurun seiring meningkatnya jumlah dokumen yang memuat kata tersebut di seluruh korpus.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834640"/>
            <a:ext cx="5242255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Glosarium Variabel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tf : Frekuensi kata/istilah dalam dokumen spesifik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idf : Kebalikan frekuensi dokumen dalam korpus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 : Istilah / Kata (Term)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 : Dokumen spesifik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 : Seluruh koleksi dokumen (Korpus)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N : Jumlah total dokumen di dalam korpus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df(t) : Jumlah dokumen yang mengandung kata 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Contoh 1: Persiapan Korpus &amp; Vektor TF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Data Dokumen Input (Korpus, N = 2):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Doc 1: "I love playing football."</a:t>
            </a:r>
            <a:br/>
            <a:r>
              <a:t>• Doc 2: "Indians love playing Cricket."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12064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Kamus / Vocab (6 Kata Unik):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0 : 'i'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1 : 'love'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2 : 'playing'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3 : 'football'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4 : 'indians'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Indeks 5 : 'cricket'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42255" cy="32918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Matriks Term Frequency (tf):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Vektor Frekuensi Kata (seperti Bag of Words):</a:t>
            </a:r>
            <a:br/>
            <a:br/>
            <a:r>
              <a:t>• Doc 1: [1, 1, 1, 1, 0, 0]</a:t>
            </a:r>
            <a:br/>
            <a:r>
              <a:t>  ('i':1, 'love':1, 'playing':1, 'football':1)</a:t>
            </a:r>
            <a:br/>
            <a:br/>
            <a:r>
              <a:t>• Doc 2: [0, 1, 1, 0, 1, 1]</a:t>
            </a:r>
            <a:br/>
            <a:r>
              <a:t>  ('love':1, 'playing':1, 'indians':1, 'cricket':1)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Contoh 1: Perhitungan IDF &amp; Bobot TF-IDF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Perhitungan IDF: log(N / df)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idf('i') [df=1] = log(2/1) = 0.6931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idf('love') [df=2] = log(2/2) = 0.0000 (Penalti!)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idf('playing') [df=2] = log(2/2) = 0.0000 (Penalti!)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idf('football') [df=1] = log(2/1) = 0.6931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idf('indians') [df=1] = log(2/1) = 0.6931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idf('cricket') [df=1] = log(2/1) = 0.6931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42255" cy="4572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Matriks Bobot Akhir TF-IDF (tf × idf)</a:t>
            </a:r>
          </a:p>
          <a:p>
            <a:pPr>
              <a:defRPr sz="1300" b="1">
                <a:solidFill>
                  <a:srgbClr val="3B82F6"/>
                </a:solidFill>
              </a:defRPr>
            </a:pPr>
            <a:r>
              <a:t>Doc 1:</a:t>
            </a:r>
            <a:br/>
            <a:r>
              <a:t>[0.693, 0.000, 0.000, 0.693, 0.000, 0.000]</a:t>
            </a:r>
            <a:br/>
            <a:endParaRPr/>
          </a:p>
          <a:p>
            <a:pPr>
              <a:defRPr sz="1300" b="1">
                <a:solidFill>
                  <a:srgbClr val="3B82F6"/>
                </a:solidFill>
              </a:defRPr>
            </a:pPr>
            <a:r>
              <a:t>Doc 2:</a:t>
            </a:r>
            <a:br/>
            <a:r>
              <a:t>[0.000, 0.000, 0.000, 0.000, 0.693, 0.693]</a:t>
            </a:r>
            <a:br/>
            <a:endParaRPr/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Insight Kunci:</a:t>
            </a:r>
            <a:br/>
            <a:r>
              <a:t>Kata 'love' dan 'playing' diberi bobot 0.000 karena muncul di semua dokumen. TF-IDF berhasil meredam kata umum dan menyoroti kata kunci spesifik seperti 'football' dan 'cricket'.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Keunggulan Utama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Eliminasi Kata Umum Otomatis: Meredam stop words tanpa pembersihan manual.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Menyoroti Kata Kunci: Skor tinggi untuk kata yang unik dan mencirikan dokumen.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Efisien &amp; Sederhana: Cepat dihitung secara komputasi.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Bagus sebagai Baseline: Sangat cocok untuk model awal klasifikasi teks.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42255" cy="4389120"/>
          </a:xfrm>
          <a:prstGeom prst="round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Keterbatasan &amp; Solusi Modern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Agnostik Konteks: Tidak memperhitungkan urutan kata atau makna semantik.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Sparse Matrix: Didominasi nilai nol jika kosakata sangat besar.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Masalah OOV: Tidak bisa menangani kata baru di luar data latih.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Solusi Modern NLP:</a:t>
            </a:r>
            <a:br/>
            <a:r>
              <a:t>Evolusi berlanjut ke Word Embeddings (Word2Vec, GloVe) &amp; Transformer (BERT, GPT) yang mampu memahami konteks dan makna kata.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10698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en-US"/>
              <a:t>SVD Based Word Embedding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Mengapa Membutuhkan Word Embedding?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2286000"/>
          </a:xfrm>
          <a:prstGeom prst="round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Keterbatasan Encoding Tradisional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Tanpa Hubungan Semantik: Integer/One-Hot Encoding tidak dapat mendeteksi bahwa kata 'Soccer' dan 'Football' memiliki makna serupa.</a:t>
            </a:r>
            <a:br/>
            <a:r>
              <a:t>• Curse of Dimensionality: Ukuran matriks One-Hot membengkak seiring bertambahnya kosakata.</a:t>
            </a:r>
            <a:br/>
            <a:r>
              <a:t>• Bias Tak Diinginkan: Integer Label Encoding memberikan bobot urutan numerik acak yang salah diartikan oleh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42255" cy="46177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Solusi: Representasi Vector Embedding</a:t>
            </a:r>
          </a:p>
          <a:p>
            <a:pPr>
              <a:defRPr sz="1300" b="1">
                <a:solidFill>
                  <a:srgbClr val="6366F1"/>
                </a:solidFill>
              </a:defRPr>
            </a:pPr>
            <a:r>
              <a:t>• Definisi Embedding:</a:t>
            </a:r>
          </a:p>
          <a:p>
            <a:pPr>
              <a:spcAft>
                <a:spcPts val="1000"/>
              </a:spcAft>
              <a:defRPr sz="1200">
                <a:solidFill>
                  <a:srgbClr val="334155"/>
                </a:solidFill>
              </a:defRPr>
            </a:pPr>
            <a:r>
              <a:t>  Representasi kata dalam ruang vektor berdimensi tetap (misal: N = 100 hingga 300) yang independen dari ukuran total kosakata.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METODOLOGI SVD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Document-Term Matrix &amp; Reduksi Dimensi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2 Metode Utama Generasi Embedding</a:t>
            </a:r>
          </a:p>
          <a:p>
            <a:pPr>
              <a:defRPr sz="1300" b="1">
                <a:solidFill>
                  <a:srgbClr val="8B5CF6"/>
                </a:solidFill>
              </a:defRPr>
            </a:pPr>
            <a:r>
              <a:t>1. Metodologi Berbasis SVD (Matrix Factorization)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</a:defRPr>
            </a:pPr>
            <a:r>
              <a:t>   Membuat matriks ko-okurensi (Co-occurrence Matrix) terlebih dahulu, lalu mereduksi dimensinya menggunakan Singular Value Decomposition (SVD).</a:t>
            </a:r>
          </a:p>
          <a:p>
            <a:pPr>
              <a:defRPr sz="1300" b="1">
                <a:solidFill>
                  <a:srgbClr val="8B5CF6"/>
                </a:solidFill>
              </a:defRPr>
            </a:pPr>
            <a:r>
              <a:t>2. Metodologi Berbasis Neural Network / Iterasi</a:t>
            </a:r>
          </a:p>
          <a:p>
            <a:pPr>
              <a:spcAft>
                <a:spcPts val="1500"/>
              </a:spcAft>
              <a:defRPr sz="1100">
                <a:solidFill>
                  <a:srgbClr val="334155"/>
                </a:solidFill>
              </a:defRPr>
            </a:pPr>
            <a:r>
              <a:t>   Mempelajari vektor kata secara langsung dengan memprediksi kata sekitar melalui model iteratif (misal: Word2Vec CBOW &amp; Skip-Gram).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Dua Cara Membuat Matriks Ko-Okurensi SVD: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Document-Term Matrix (DTM)</a:t>
            </a:r>
            <a:br/>
            <a:r>
              <a:t>• Window-based Co-Occurrence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42255" cy="461772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Konsep Document-Term Matrix (DTM)</a:t>
            </a:r>
          </a:p>
          <a:p>
            <a:pPr>
              <a:defRPr sz="1300" b="1">
                <a:solidFill>
                  <a:srgbClr val="8B5CF6"/>
                </a:solidFill>
              </a:defRPr>
            </a:pPr>
            <a:r>
              <a:t>• Pembentukan Matriks Awal: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</a:defRPr>
            </a:pPr>
            <a:r>
              <a:t>  Menghitung frekuensi kemunculan setiap kata di setiap dokumen. Menghasilkan matriks berukuran (N x D) di mana N = Jumlah Kosakata, D = Jumlah Dokumen.</a:t>
            </a:r>
          </a:p>
          <a:p>
            <a:pPr>
              <a:defRPr sz="1300" b="1">
                <a:solidFill>
                  <a:srgbClr val="8B5CF6"/>
                </a:solidFill>
              </a:defRPr>
            </a:pPr>
            <a:r>
              <a:t>• Menerapkan SVD (Singular Value Decomposition):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</a:defRPr>
            </a:pPr>
            <a:r>
              <a:t>  Matriks (N x D) ditransformasikan &amp; direduksi menjadi matriks (N x d), di mana d adalah dimensi embedding yang diinginkan (misal d = 2 atau 100 s.d. 500).</a:t>
            </a:r>
          </a:p>
          <a:p>
            <a:pPr>
              <a:defRPr sz="1300" b="1">
                <a:solidFill>
                  <a:srgbClr val="8B5CF6"/>
                </a:solidFill>
              </a:defRPr>
            </a:pPr>
            <a:r>
              <a:t>• Hasil Vektor Kata: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Setiap baris pada matriks hasil SVD menjadi embedding berdimensi-d untuk kata bersangkutan.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STUDI KASUS PERHITUNGAN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Contoh Transformasi DTM ke Embedding 2D via SVD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27432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10972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0F172A"/>
                </a:solidFill>
              </a:defRPr>
            </a:pPr>
            <a:r>
              <a:t>Korpus Dokumen Input (N = 15 kata unik, D = 3 dokumen):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Doc 1: "I love playing both sports, Cricket and Football"</a:t>
            </a:r>
            <a:br/>
            <a:r>
              <a:t>• Doc 2: "Indians play both sports, Cricket and Football"</a:t>
            </a:r>
            <a:br/>
            <a:r>
              <a:t>• Doc 3: "Football is more popular sport than Cricket"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2880360"/>
          <a:ext cx="5241340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17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Idx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Word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Dim 1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Dim 2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0.6801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-0.3136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love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0.6801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-0.3136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playing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0.6801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-0.3136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1.3022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-0.5450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1.3022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-0.5450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cricket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1.6901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0.3759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1.3022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-0.5450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football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1.6901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0.3759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indians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0.6221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-0.2314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play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0.6221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-0.2314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0.3879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0.9209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more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0.3879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0.9209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popular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0.3879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0.9209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sport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0.3879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0.9209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than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0.3879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0.9209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9B7AC19-D2AD-206A-3363-5857241B8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13" y="2880360"/>
            <a:ext cx="4672492" cy="37287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09850"/>
            <a:ext cx="5348287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09850"/>
            <a:ext cx="5348287" cy="236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905125"/>
            <a:ext cx="49956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1. Tidak Ada Hubungan Semantik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33750"/>
            <a:ext cx="475773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Metode tradisional tidak dapat menangkap kemiripan makna antar kata. Kata seperti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"Sepak Bola"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dan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"Futsal"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diperlakukan sebagai entitas terpisah yang sepenuhnya independen (ortogonal).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7962" y="2905125"/>
            <a:ext cx="499562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2. Ledakan Dimensi (Curse of Dimensionality)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3648075"/>
            <a:ext cx="475773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Pada One-Hot Encoding, ukuran vektor bertambah seiring membesarnya kosakata. Untuk 1 juta kata, setiap kata membutuhkan vektor berukuran 1 juta elemen, sangat tidak efisien dalam memori.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85775"/>
            <a:ext cx="11431428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Masalah</a:t>
            </a:r>
            <a:r>
              <a:rPr lang="en-US" sz="2550" b="0" i="0" u="none">
                <a:solidFill>
                  <a:srgbClr val="F8FAFC"/>
                </a:solidFill>
                <a:latin typeface="Poppins SemiBold"/>
              </a:rPr>
              <a:t> one hot encoding</a:t>
            </a:r>
            <a:endParaRPr sz="2550" b="0" i="0" u="none">
              <a:solidFill>
                <a:srgbClr val="F8FAFC"/>
              </a:solidFill>
              <a:latin typeface="Poppins Semi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981200"/>
            <a:ext cx="5348287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981200"/>
            <a:ext cx="5348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Word Embeddings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adalah teknik pemetaan kata tunggal ke dalam vektor berdimensi rendah bernilai riil (biasanya 50 hingga 300 dimensi).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1990725"/>
            <a:ext cx="5329237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1075" y="2581275"/>
            <a:ext cx="49482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Dimensi Tetap: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Ukuran vektor independen dari total jumlah kosakata dalam korpus.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3209925"/>
            <a:ext cx="49482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Jarak Vektor Semantik: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Kemiripan kata diukur langsung melalui jarak spasial (misal: Cosine Similarity).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3838575"/>
            <a:ext cx="49482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Mengatasi High-Dimensionality: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Memangkas matriks jarang (sparse) menjadi matriks padat (dense).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605087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3373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62387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Apa Itu Word Embeddings?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9211" y="2746176"/>
            <a:ext cx="8613427" cy="1013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0" i="0" u="none">
                <a:solidFill>
                  <a:srgbClr val="F8FAFC"/>
                </a:solidFill>
                <a:latin typeface="Poppins Medium"/>
              </a:rPr>
              <a:t>"You shall know a word by the company it keeps."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601" y="3997523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— J. R. Firth (1957)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8211" y="4464248"/>
            <a:ext cx="937542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Makna sebuah kata ditentukan oleh kata-kata tetangga yang sering muncul di sekitarnya dalam korpus teks.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5336" y="2984301"/>
            <a:ext cx="28575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750" b="0" i="0" u="none">
                <a:solidFill>
                  <a:srgbClr val="38BDF8"/>
                </a:solidFill>
                <a:latin typeface="Poppins Medium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40765" y="3902273"/>
            <a:ext cx="28575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750" b="0" i="0" u="none">
                <a:solidFill>
                  <a:srgbClr val="38BDF8"/>
                </a:solidFill>
                <a:latin typeface="Poppins Medium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Intuisi Utama Word Embeddings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81312"/>
            <a:ext cx="5348287" cy="1819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881312"/>
            <a:ext cx="5348287" cy="1819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176587"/>
            <a:ext cx="49956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1. Metode Berbasis SVD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605212"/>
            <a:ext cx="47577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Menggunakan faktorisasi matriks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Singular Value Decomposition (SVD)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pada matriks kemunculan bersama (Co-occurrence Matrix) untuk reduksi dimensi.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7962" y="3176587"/>
            <a:ext cx="49956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2. Metode Berbasis Neural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3605212"/>
            <a:ext cx="475773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Menggunakan model iteratif seperti </a:t>
            </a:r>
            <a:r>
              <a:rPr sz="1200" b="1" i="0" u="none">
                <a:solidFill>
                  <a:srgbClr val="CBD5E1"/>
                </a:solidFill>
                <a:latin typeface="Inter"/>
              </a:rPr>
              <a:t>Word2Vec (CBOW &amp; Skip-Gram)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untuk memprediksi kata tetangga secara langsung dari korpus besar.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Metodologi Generasi Embedding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09825"/>
            <a:ext cx="3517850" cy="2762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409825"/>
            <a:ext cx="3517850" cy="2762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409825"/>
            <a:ext cx="3517850" cy="2762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8675" y="3238500"/>
            <a:ext cx="317367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1. Ketidakseimbangan Matriks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3981450"/>
            <a:ext cx="3022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Kata-kata berfrekuensi tinggi (seperti "dan", "yang") mendominasi matriks, menyebabkan skewness data yang parah.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4650" y="3238500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2. Biaya Komputasi Tinggi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667125"/>
            <a:ext cx="30225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Kompleksitas perhitungan SVD sangat mahal, yaitu mencapai: </a:t>
            </a:r>
            <a:r>
              <a:t>
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</a:t>
            </a:r>
            <a:r>
              <a:t>
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di mana $m$ adalah ukuran kosakata dan $n$ adalah dimensi embedding.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625" y="3238500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3. Sulit Diperbarui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667125"/>
            <a:ext cx="3022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Ketika ada kata atau dokumen baru ditambahkan, seluruh matriks harus dihitung ulang dari awal.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2695575"/>
            <a:ext cx="45720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2695575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4650" y="4140993"/>
            <a:ext cx="880169" cy="202406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2695575"/>
            <a:ext cx="361950" cy="361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3900" y="485775"/>
            <a:ext cx="1143142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Keterbatasan Metode Berbasis SVD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B527F-1AFF-0168-83AC-A2B7F8F8F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50" y="268160"/>
            <a:ext cx="6744681" cy="646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EC5F95-97D2-512C-DC6E-7C6AB8393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992" y="268159"/>
            <a:ext cx="4654192" cy="61806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E100A7-A027-993A-9D34-7793224DAD86}"/>
              </a:ext>
            </a:extLst>
          </p:cNvPr>
          <p:cNvSpPr/>
          <p:nvPr/>
        </p:nvSpPr>
        <p:spPr>
          <a:xfrm>
            <a:off x="200650" y="268160"/>
            <a:ext cx="1849348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SKIP-GRAM</a:t>
            </a:r>
          </a:p>
        </p:txBody>
      </p:sp>
    </p:spTree>
    <p:extLst>
      <p:ext uri="{BB962C8B-B14F-4D97-AF65-F5344CB8AC3E}">
        <p14:creationId xmlns:p14="http://schemas.microsoft.com/office/powerpoint/2010/main" val="687355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20640" y="2573833"/>
            <a:ext cx="5750718" cy="204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1E3A8A"/>
                </a:solidFill>
                <a:latin typeface="Poppins"/>
              </a:rPr>
              <a:t>Pelatihan Model</a:t>
            </a:r>
            <a:r>
              <a:t>
</a:t>
            </a:r>
            <a:r>
              <a:rPr sz="4800" b="1" i="0" u="none">
                <a:solidFill>
                  <a:srgbClr val="1E3A8A"/>
                </a:solidFill>
                <a:latin typeface="Poppins"/>
              </a:rPr>
              <a:t> Word Embedding</a:t>
            </a:r>
            <a:r>
              <a:rPr lang="en-US" sz="4800" b="1" i="0" u="none">
                <a:solidFill>
                  <a:srgbClr val="1E3A8A"/>
                </a:solidFill>
                <a:latin typeface="Poppins"/>
              </a:rPr>
              <a:t> SKIP-GRAM</a:t>
            </a:r>
            <a:endParaRPr sz="4800" b="1" i="0" u="none">
              <a:solidFill>
                <a:srgbClr val="1E3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18470"/>
            <a:ext cx="5286375" cy="12610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476375"/>
            <a:ext cx="52863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76375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Parameter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4222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Kalimat Sampel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217616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Pembentukan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693866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Memetakan setiap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kata pusat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(</a:t>
            </a:r>
            <a:r>
              <a:rPr sz="1350" b="0" i="1" u="none">
                <a:solidFill>
                  <a:srgbClr val="334155"/>
                </a:solidFill>
                <a:latin typeface="Lato"/>
              </a:rPr>
              <a:t>center word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 dengan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kata konteks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(</a:t>
            </a:r>
            <a:r>
              <a:rPr sz="1350" b="0" i="1" u="none">
                <a:solidFill>
                  <a:srgbClr val="334155"/>
                </a:solidFill>
                <a:latin typeface="Lato"/>
              </a:rPr>
              <a:t>context word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 di sekitarnya berdasarkan ukuran jendela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1952625"/>
            <a:ext cx="4981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Ukuran 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341215"/>
            <a:ext cx="4981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Ukuran kosakata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729805"/>
            <a:ext cx="49815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Ukuran jendela (</a:t>
            </a:r>
            <a:r>
              <a:rPr sz="1350" b="0" i="1" u="none">
                <a:solidFill>
                  <a:srgbClr val="334155"/>
                </a:solidFill>
                <a:latin typeface="Lato"/>
              </a:rPr>
              <a:t>window size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 =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861345"/>
            <a:ext cx="48672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E3A8A"/>
                </a:solidFill>
                <a:latin typeface="Courier New SemiBold"/>
              </a:rPr>
              <a:t>"I love playing Football"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211835"/>
            <a:ext cx="48672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E3A8A"/>
                </a:solidFill>
                <a:latin typeface="Courier New SemiBold"/>
              </a:rPr>
              <a:t>"I love playing Cricket"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562326"/>
            <a:ext cx="48672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E3A8A"/>
                </a:solidFill>
                <a:latin typeface="Courier New SemiBold"/>
              </a:rPr>
              <a:t>"I love playing sports"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5" y="2028825"/>
            <a:ext cx="402580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Parameter &amp; Data Pelatihan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7167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60265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3125" y="2417415"/>
            <a:ext cx="402580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4885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200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Arsitektur Jaringan Saraf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09675"/>
            <a:ext cx="4953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1787872"/>
            <a:ext cx="49006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3A8A"/>
                </a:solidFill>
                <a:latin typeface="Poppins"/>
              </a:rPr>
              <a:t>Tujuan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140297"/>
            <a:ext cx="4953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Memprediksi kata konteks berdasarkan kata pusat yang diberikan.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652712"/>
            <a:ext cx="487060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3A8A"/>
                </a:solidFill>
                <a:latin typeface="Poppins"/>
              </a:rPr>
              <a:t>Dimensi Lapisan Bobot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005137"/>
            <a:ext cx="4953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Lapisan pertama: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279427"/>
            <a:ext cx="4953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Lapisan kedua: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791842"/>
            <a:ext cx="49006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3A8A"/>
                </a:solidFill>
                <a:latin typeface="Poppins"/>
              </a:rPr>
              <a:t>Prediksi &amp;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144267"/>
            <a:ext cx="4953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Lapisan akhir menggunakan fungsi aktivasi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softmax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untuk menghasilkan prediksi kata konteks.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930973"/>
            <a:ext cx="4920615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3A8A"/>
                </a:solidFill>
                <a:latin typeface="Poppins"/>
              </a:rPr>
              <a:t>Hasil Akhir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283398"/>
            <a:ext cx="4953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Setiap baris bobot pada lapisan pertama menjadi </a:t>
            </a:r>
            <a:r>
              <a:rPr sz="1350" b="0" i="1" u="none">
                <a:solidFill>
                  <a:srgbClr val="334155"/>
                </a:solidFill>
                <a:latin typeface="Lato"/>
              </a:rPr>
              <a:t>embedding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bagi kata yang sesuai setelah pelatihan selesai.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45022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09862"/>
            <a:ext cx="2190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5950" y="3081337"/>
            <a:ext cx="2965698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975" y="3355627"/>
            <a:ext cx="2965698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848992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988123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9790"/>
            <a:ext cx="5286375" cy="39774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901231"/>
            <a:ext cx="5286375" cy="2381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76375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Indeks Kosakata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52625"/>
            <a:ext cx="528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Daftar unik token beserta nilai indeksnya (Ukuran Kosakata 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1476375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Poppins"/>
              </a:rPr>
              <a:t>Pengodean Data Pelatihan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1952625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Transformasi teks menjadi format numerik untuk proses komputasi </a:t>
            </a:r>
            <a:r>
              <a:rPr sz="1350" b="0" i="1" u="none">
                <a:solidFill>
                  <a:srgbClr val="334155"/>
                </a:solidFill>
                <a:latin typeface="Lato"/>
              </a:rPr>
              <a:t>machine learning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2028825"/>
            <a:ext cx="402580" cy="1238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1500" y="2369790"/>
            <a:ext cx="5286375" cy="397743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1500" y="2369790"/>
          <a:ext cx="5286374" cy="3977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0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oppins"/>
                        </a:rPr>
                        <a:t>Indeks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oppins"/>
                        </a:rPr>
                        <a:t>Kata (Token)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0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'I'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0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'love'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0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'playing'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0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'football'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0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'cricket'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07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'sports'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38925" y="2691705"/>
            <a:ext cx="4981575" cy="291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X_train: Representasi vektor </a:t>
            </a:r>
            <a:r>
              <a:rPr sz="1350" b="0" i="1" u="none">
                <a:solidFill>
                  <a:srgbClr val="334155"/>
                </a:solidFill>
                <a:latin typeface="Lato"/>
              </a:rPr>
              <a:t>one-hot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untuk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kata pusat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3097410"/>
            <a:ext cx="4981575" cy="565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y_train: Representasi vektor target (</a:t>
            </a:r>
            <a:r>
              <a:rPr sz="1350" b="0" i="1" u="none">
                <a:solidFill>
                  <a:srgbClr val="334155"/>
                </a:solidFill>
                <a:latin typeface="Lato"/>
              </a:rPr>
              <a:t>one-hot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) untuk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kata konteks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925067"/>
            <a:ext cx="1585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57412" y="2925067"/>
            <a:ext cx="3700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271075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3116460"/>
            <a:ext cx="171450" cy="1809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71500" y="3494633"/>
            <a:ext cx="1585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57412" y="3494633"/>
            <a:ext cx="3700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4064198"/>
            <a:ext cx="1585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57412" y="4064198"/>
            <a:ext cx="3700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4633763"/>
            <a:ext cx="1585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57412" y="4633763"/>
            <a:ext cx="3700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1500" y="5203328"/>
            <a:ext cx="1585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57412" y="5203328"/>
            <a:ext cx="3700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500" y="5772894"/>
            <a:ext cx="15859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57412" y="5772894"/>
            <a:ext cx="3700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1500" y="47625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Pengodean Kosakata &amp; Vektor Pelatihan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08C110-A1AE-583A-54A8-A3C9DED66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13" y="188944"/>
            <a:ext cx="5329797" cy="6480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539933-057E-37BF-F535-79A9E7E36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010" y="4787757"/>
            <a:ext cx="6041206" cy="1715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DC68B-C94B-7C6E-ED8B-22D74C84C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29625"/>
            <a:ext cx="5806313" cy="376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12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273A4-4740-B944-FC04-624751DBA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87091-920C-97A8-1E2B-536DEC354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50" y="268160"/>
            <a:ext cx="6744681" cy="6466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DBC787-5472-BEC4-AD71-E61479D3C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992" y="268159"/>
            <a:ext cx="4654192" cy="61806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F797BD-2371-6CC8-2258-76BB6A14D423}"/>
              </a:ext>
            </a:extLst>
          </p:cNvPr>
          <p:cNvSpPr/>
          <p:nvPr/>
        </p:nvSpPr>
        <p:spPr>
          <a:xfrm>
            <a:off x="200650" y="268160"/>
            <a:ext cx="1849348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SKIP-GRAM</a:t>
            </a:r>
          </a:p>
        </p:txBody>
      </p:sp>
    </p:spTree>
    <p:extLst>
      <p:ext uri="{BB962C8B-B14F-4D97-AF65-F5344CB8AC3E}">
        <p14:creationId xmlns:p14="http://schemas.microsoft.com/office/powerpoint/2010/main" val="3685849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748E3-41CA-4AEC-7C39-C822F0365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802" y="3164442"/>
            <a:ext cx="8068359" cy="275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1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3227</Words>
  <Application>Microsoft Office PowerPoint</Application>
  <PresentationFormat>Widescreen</PresentationFormat>
  <Paragraphs>350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Courier New SemiBold</vt:lpstr>
      <vt:lpstr>Inter</vt:lpstr>
      <vt:lpstr>Lato</vt:lpstr>
      <vt:lpstr>Poppins</vt:lpstr>
      <vt:lpstr>Poppins Medium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mulaab mulyo</cp:lastModifiedBy>
  <cp:revision>5</cp:revision>
  <dcterms:created xsi:type="dcterms:W3CDTF">2013-01-27T09:14:16Z</dcterms:created>
  <dcterms:modified xsi:type="dcterms:W3CDTF">2026-09-10T01:55:33Z</dcterms:modified>
  <cp:category/>
</cp:coreProperties>
</file>